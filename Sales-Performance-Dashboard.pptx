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Geist SemiBold"/>
      <p:regular r:id="rId201314"/>
    </p:embeddedFont>
    <p:embeddedFont>
      <p:font typeface="Geist Bold"/>
      <p:regular r:id="rId201315"/>
    </p:embeddedFont>
    <p:embeddedFont>
      <p:font typeface="Geist Black"/>
      <p:regular r:id="rId201316"/>
    </p:embeddedFont>
    <p:embeddedFont>
      <p:font typeface="Geist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3.png"/><Relationship Id="rId16" Type="http://schemas.openxmlformats.org/officeDocument/2006/relationships/image" Target="../media/image-7-14.svg"/><Relationship Id="rId17" Type="http://schemas.openxmlformats.org/officeDocument/2006/relationships/image" Target="../media/image-7-13.png"/><Relationship Id="rId18" Type="http://schemas.openxmlformats.org/officeDocument/2006/relationships/image" Target="../media/image-7-14.svg"/><Relationship Id="rId19" Type="http://schemas.openxmlformats.org/officeDocument/2006/relationships/image" Target="../media/image-7-13.png"/><Relationship Id="rId20" Type="http://schemas.openxmlformats.org/officeDocument/2006/relationships/image" Target="../media/image-7-14.svg"/><Relationship Id="rId21" Type="http://schemas.openxmlformats.org/officeDocument/2006/relationships/image" Target="../media/image-7-13.png"/><Relationship Id="rId22" Type="http://schemas.openxmlformats.org/officeDocument/2006/relationships/image" Target="../media/image-7-14.svg"/><Relationship Id="rId23" Type="http://schemas.openxmlformats.org/officeDocument/2006/relationships/image" Target="../media/image-7-13.png"/><Relationship Id="rId24" Type="http://schemas.openxmlformats.org/officeDocument/2006/relationships/image" Target="../media/image-7-14.svg"/><Relationship Id="rId25" Type="http://schemas.openxmlformats.org/officeDocument/2006/relationships/image" Target="../media/image-7-25.png"/><Relationship Id="rId26" Type="http://schemas.openxmlformats.org/officeDocument/2006/relationships/slideLayout" Target="../slideLayouts/slideLayout2.xml"/><Relationship Id="rId2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358827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Performance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62958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Power BI Data Analytics Project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4253508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Analyst Internship • Dashboard design &amp; business insights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0875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Objective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43162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a Power BI dashboard that gives stakeholders an interactive, reliable view of sales performance across products, countries, deal sizes and order status.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47119"/>
            <a:ext cx="736582" cy="736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4290" y="2347119"/>
            <a:ext cx="1567121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Monitor overall sales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634290" y="3074690"/>
            <a:ext cx="1567121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At-a-glance revenue and trend visibility.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347119"/>
            <a:ext cx="736582" cy="736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10461" y="2347119"/>
            <a:ext cx="15672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Track trends over time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410461" y="3074690"/>
            <a:ext cx="1567220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Monthly and yearly comparisons with progressive reveal.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347119"/>
            <a:ext cx="736582" cy="736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86730" y="2347119"/>
            <a:ext cx="15672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Identify top product lines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186730" y="3074690"/>
            <a:ext cx="156722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Rank products by sales and units sold.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347119"/>
            <a:ext cx="736582" cy="736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63000" y="2347119"/>
            <a:ext cx="15672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Analyze sales by country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9963000" y="3074690"/>
            <a:ext cx="156722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Geographic comparison and market focus.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681041"/>
            <a:ext cx="736582" cy="736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34290" y="4681041"/>
            <a:ext cx="1567121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Understand deal-size distribution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1634290" y="5715695"/>
            <a:ext cx="156712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Segment sales by deal-size bands.</a:t>
            </a:r>
            <a:endParaRPr lang="en-US" sz="14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7645" y="4681041"/>
            <a:ext cx="736582" cy="736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410461" y="4681041"/>
            <a:ext cx="15672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Monitor order status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4410461" y="5408613"/>
            <a:ext cx="156722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Shipped, pending and cancelled order views.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687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Performance Indicators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19164"/>
            <a:ext cx="3496877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9531" y="2727226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Total Sales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69531" y="3147715"/>
            <a:ext cx="308076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$10.03M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519164"/>
            <a:ext cx="3496877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5416" y="2727226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Total Units Sold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55416" y="3147715"/>
            <a:ext cx="308076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99,067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519164"/>
            <a:ext cx="3496877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1300" y="2727226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Total Orders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41300" y="3147715"/>
            <a:ext cx="308076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307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790454"/>
            <a:ext cx="5339820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531" y="3998516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Average Order Value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69531" y="4419005"/>
            <a:ext cx="492370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$32.68K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3790454"/>
            <a:ext cx="5339820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8358" y="3998516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YoY Sales Growth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98358" y="4419005"/>
            <a:ext cx="492370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34.33%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5085358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takeaway: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Sales performance shows strong overall revenue generation with significant year-over-year growth.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920"/>
            <a:ext cx="10868745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50" b="1" spc="-4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Trend Analysis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79500"/>
            <a:ext cx="11478330" cy="12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Monthly sales trend (2003–2005). 2004 shows clear improvement over 2003; 2005 contains partial-year data through May and is not directly comparable to full years.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265" y="1295797"/>
            <a:ext cx="5929164" cy="4814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28537" y="4783905"/>
            <a:ext cx="1641148" cy="31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Jan 2003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285043" y="4283940"/>
            <a:ext cx="1597674" cy="31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2004 Growth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208773" y="3773106"/>
            <a:ext cx="1641148" cy="31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May 2005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197997"/>
            <a:ext cx="11478330" cy="12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6296FF"/>
                </a:highlight>
                <a:latin typeface="Geist" pitchFamily="34" charset="0"/>
                <a:ea typeface="Geist" pitchFamily="34" charset="-122"/>
                <a:cs typeface="Geist" pitchFamily="34" charset="-120"/>
              </a:rPr>
              <a:t>Insight:</a:t>
            </a:r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Sales increased significantly in 2004, indicating stronger business performance compared with 2003.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019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b="1" spc="-5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&amp; Market Performance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99270"/>
            <a:ext cx="525429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by Product Line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68959"/>
            <a:ext cx="5254295" cy="3782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580856"/>
            <a:ext cx="5254295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 product line: </a:t>
            </a:r>
            <a:pPr algn="l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Classic Cars — ≈ $3.92M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Classic Cars bar is visually highlighted to draw attention.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282275" y="1299270"/>
            <a:ext cx="525429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by Country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275" y="1668959"/>
            <a:ext cx="5254295" cy="3782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2275" y="5580856"/>
            <a:ext cx="5254295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 country: </a:t>
            </a:r>
            <a:pPr algn="l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USA — ≈ $3.63M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USA bar is visually highlighted to indicate market priority.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61475" y="6156127"/>
            <a:ext cx="11478330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and geographic analysis helps prioritise inventory and go-to-market focus.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019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b="1" spc="-5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Mix &amp; Order Status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99270"/>
            <a:ext cx="525429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by Deal Size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68959"/>
            <a:ext cx="5254295" cy="3782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580856"/>
            <a:ext cx="5863880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Medium deal size: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≈ $6.09M — the largest contributor to sales.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282275" y="1299270"/>
            <a:ext cx="525429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Sales by Order Status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275" y="1668959"/>
            <a:ext cx="5254295" cy="3782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2275" y="5580856"/>
            <a:ext cx="5254295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Shipped orders: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≈ $9.29M — majority of recognised sales stem from shipped status.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61475" y="6156127"/>
            <a:ext cx="11478330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These dimensions clarify which deal sizes and fulfilment stages drive realised revenue.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6148"/>
            <a:ext cx="10868745" cy="431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spc="-5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Dashboard Features &amp; Business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81509"/>
            <a:ext cx="47125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Interactive Features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02482"/>
            <a:ext cx="332176" cy="332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0428" y="1602482"/>
            <a:ext cx="426362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Year filter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21495"/>
            <a:ext cx="332176" cy="332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0428" y="2121495"/>
            <a:ext cx="426362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Country filter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640509"/>
            <a:ext cx="332176" cy="332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10428" y="2640509"/>
            <a:ext cx="426362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line filter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159522"/>
            <a:ext cx="332176" cy="3321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10428" y="3159522"/>
            <a:ext cx="426362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Deal size filter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678535"/>
            <a:ext cx="332176" cy="33218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10428" y="3678535"/>
            <a:ext cx="426362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Order status filter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4197548"/>
            <a:ext cx="332176" cy="332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10428" y="4197548"/>
            <a:ext cx="426362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Interactive cross-filtering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5704638" y="1281509"/>
            <a:ext cx="58318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Takeaways</a:t>
            </a:r>
            <a:endParaRPr lang="en-US" sz="13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04638" y="1602482"/>
            <a:ext cx="2869235" cy="128696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059436" y="1698129"/>
            <a:ext cx="15944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spc="-21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250" dirty="0"/>
          </a:p>
        </p:txBody>
      </p:sp>
      <p:sp>
        <p:nvSpPr>
          <p:cNvPr id="19" name="Text 10"/>
          <p:cNvSpPr/>
          <p:nvPr/>
        </p:nvSpPr>
        <p:spPr>
          <a:xfrm>
            <a:off x="5856538" y="2133997"/>
            <a:ext cx="25654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1. Total sales</a:t>
            </a:r>
            <a:endParaRPr lang="en-US" sz="1300" dirty="0"/>
          </a:p>
        </p:txBody>
      </p:sp>
      <p:sp>
        <p:nvSpPr>
          <p:cNvPr id="20" name="Text 11"/>
          <p:cNvSpPr/>
          <p:nvPr/>
        </p:nvSpPr>
        <p:spPr>
          <a:xfrm>
            <a:off x="5856538" y="2443262"/>
            <a:ext cx="2565435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Reached approximately $10.03M across the dataset.</a:t>
            </a:r>
            <a:endParaRPr lang="en-US" sz="10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67236" y="1602482"/>
            <a:ext cx="2869235" cy="128696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022034" y="1698129"/>
            <a:ext cx="15944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spc="-21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13"/>
          <p:cNvSpPr/>
          <p:nvPr/>
        </p:nvSpPr>
        <p:spPr>
          <a:xfrm>
            <a:off x="8819136" y="2133997"/>
            <a:ext cx="25654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2. YoY growth</a:t>
            </a:r>
            <a:endParaRPr lang="en-US" sz="1300" dirty="0"/>
          </a:p>
        </p:txBody>
      </p:sp>
      <p:sp>
        <p:nvSpPr>
          <p:cNvPr id="24" name="Text 14"/>
          <p:cNvSpPr/>
          <p:nvPr/>
        </p:nvSpPr>
        <p:spPr>
          <a:xfrm>
            <a:off x="8819136" y="2443262"/>
            <a:ext cx="2565435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Sales grew ~34.33% from 2003 to 2004, a notable year-over-year uplift.</a:t>
            </a:r>
            <a:endParaRPr lang="en-US" sz="10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04638" y="2982813"/>
            <a:ext cx="2869235" cy="128696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059436" y="3078460"/>
            <a:ext cx="15944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spc="-21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250" dirty="0"/>
          </a:p>
        </p:txBody>
      </p:sp>
      <p:sp>
        <p:nvSpPr>
          <p:cNvPr id="27" name="Text 16"/>
          <p:cNvSpPr/>
          <p:nvPr/>
        </p:nvSpPr>
        <p:spPr>
          <a:xfrm>
            <a:off x="5856538" y="3514328"/>
            <a:ext cx="25654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3. Top product</a:t>
            </a:r>
            <a:endParaRPr lang="en-US" sz="1300" dirty="0"/>
          </a:p>
        </p:txBody>
      </p:sp>
      <p:sp>
        <p:nvSpPr>
          <p:cNvPr id="28" name="Text 17"/>
          <p:cNvSpPr/>
          <p:nvPr/>
        </p:nvSpPr>
        <p:spPr>
          <a:xfrm>
            <a:off x="5856538" y="3823593"/>
            <a:ext cx="2565435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Classic Cars is the highest-performing product line (~$3.92M).</a:t>
            </a:r>
            <a:endParaRPr lang="en-US" sz="10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67236" y="2982813"/>
            <a:ext cx="2869235" cy="1286966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022034" y="3078460"/>
            <a:ext cx="15944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spc="-21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250" dirty="0"/>
          </a:p>
        </p:txBody>
      </p:sp>
      <p:sp>
        <p:nvSpPr>
          <p:cNvPr id="31" name="Text 19"/>
          <p:cNvSpPr/>
          <p:nvPr/>
        </p:nvSpPr>
        <p:spPr>
          <a:xfrm>
            <a:off x="8819136" y="3514328"/>
            <a:ext cx="25654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4. Top market</a:t>
            </a:r>
            <a:endParaRPr lang="en-US" sz="1300" dirty="0"/>
          </a:p>
        </p:txBody>
      </p:sp>
      <p:sp>
        <p:nvSpPr>
          <p:cNvPr id="32" name="Text 20"/>
          <p:cNvSpPr/>
          <p:nvPr/>
        </p:nvSpPr>
        <p:spPr>
          <a:xfrm>
            <a:off x="8819136" y="3823593"/>
            <a:ext cx="2565435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USA is the largest market by sales (~$3.63M).</a:t>
            </a:r>
            <a:endParaRPr lang="en-US" sz="10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04638" y="4363145"/>
            <a:ext cx="2869235" cy="1286966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059436" y="4458791"/>
            <a:ext cx="15944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spc="-21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250" dirty="0"/>
          </a:p>
        </p:txBody>
      </p:sp>
      <p:sp>
        <p:nvSpPr>
          <p:cNvPr id="35" name="Text 22"/>
          <p:cNvSpPr/>
          <p:nvPr/>
        </p:nvSpPr>
        <p:spPr>
          <a:xfrm>
            <a:off x="5856538" y="4894659"/>
            <a:ext cx="25654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5. Deal-size impact</a:t>
            </a:r>
            <a:endParaRPr lang="en-US" sz="1300" dirty="0"/>
          </a:p>
        </p:txBody>
      </p:sp>
      <p:sp>
        <p:nvSpPr>
          <p:cNvPr id="36" name="Text 23"/>
          <p:cNvSpPr/>
          <p:nvPr/>
        </p:nvSpPr>
        <p:spPr>
          <a:xfrm>
            <a:off x="5856538" y="5203924"/>
            <a:ext cx="2565435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Medium deals delivered the largest sales contribution (~$6.09M).</a:t>
            </a:r>
            <a:endParaRPr lang="en-US" sz="10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67236" y="4363145"/>
            <a:ext cx="2869235" cy="1286966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10022034" y="4458791"/>
            <a:ext cx="15944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spc="-21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US" sz="1250" dirty="0"/>
          </a:p>
        </p:txBody>
      </p:sp>
      <p:sp>
        <p:nvSpPr>
          <p:cNvPr id="39" name="Text 25"/>
          <p:cNvSpPr/>
          <p:nvPr/>
        </p:nvSpPr>
        <p:spPr>
          <a:xfrm>
            <a:off x="8819136" y="4894659"/>
            <a:ext cx="25654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6. Explore interactively</a:t>
            </a:r>
            <a:endParaRPr lang="en-US" sz="1300" dirty="0"/>
          </a:p>
        </p:txBody>
      </p:sp>
      <p:sp>
        <p:nvSpPr>
          <p:cNvPr id="40" name="Text 26"/>
          <p:cNvSpPr/>
          <p:nvPr/>
        </p:nvSpPr>
        <p:spPr>
          <a:xfrm>
            <a:off x="8819136" y="5203924"/>
            <a:ext cx="2565435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Filters and cross-filtering let stakeholders test hypotheses and drill into segments.</a:t>
            </a:r>
            <a:endParaRPr lang="en-US" sz="1000" dirty="0"/>
          </a:p>
        </p:txBody>
      </p:sp>
      <p:sp>
        <p:nvSpPr>
          <p:cNvPr id="41" name="Shape 27"/>
          <p:cNvSpPr/>
          <p:nvPr/>
        </p:nvSpPr>
        <p:spPr>
          <a:xfrm>
            <a:off x="5704638" y="5755184"/>
            <a:ext cx="5831833" cy="381496"/>
          </a:xfrm>
          <a:prstGeom prst="roundRect">
            <a:avLst>
              <a:gd name="adj" fmla="val 14632"/>
            </a:avLst>
          </a:prstGeom>
          <a:solidFill>
            <a:srgbClr val="002A80"/>
          </a:solidFill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37488" y="5886053"/>
            <a:ext cx="166088" cy="132854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136427" y="5872361"/>
            <a:ext cx="5876778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Data-driven dashboards transform sales data into actionable business insights.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2026-09-06T10:19:05Z</dcterms:created>
  <dcterms:modified xsi:type="dcterms:W3CDTF">2026-09-06T10:19:05Z</dcterms:modified>
</cp:coreProperties>
</file>